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0" y="0"/>
            <a:ext cx="4548240" cy="5143320"/>
          </a:xfrm>
          <a:prstGeom prst="rect">
            <a:avLst/>
          </a:prstGeom>
          <a:solidFill>
            <a:schemeClr val="dk1"/>
          </a:solidFill>
          <a:ln w="9525">
            <a:solidFill>
              <a:srgbClr val="1d36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20000" y="2627280"/>
            <a:ext cx="3624120" cy="197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r>
              <a:rPr b="0" lang="fr-FR" sz="3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48600" y="0"/>
            <a:ext cx="4595040" cy="3858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13520" y="539640"/>
            <a:ext cx="7717320" cy="68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6" name="Google Shape;114;p18"/>
          <p:cNvCxnSpPr/>
          <p:nvPr/>
        </p:nvCxnSpPr>
        <p:spPr>
          <a:xfrm>
            <a:off x="817920" y="464400"/>
            <a:ext cx="816480" cy="360"/>
          </a:xfrm>
          <a:prstGeom prst="straightConnector1">
            <a:avLst/>
          </a:prstGeom>
          <a:ln w="19050">
            <a:solidFill>
              <a:srgbClr val="1d3675"/>
            </a:solidFill>
            <a:round/>
          </a:ln>
        </p:spPr>
      </p:cxn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6;p19"/>
          <p:cNvSpPr/>
          <p:nvPr/>
        </p:nvSpPr>
        <p:spPr>
          <a:xfrm>
            <a:off x="4586040" y="0"/>
            <a:ext cx="4557600" cy="5185440"/>
          </a:xfrm>
          <a:prstGeom prst="rect">
            <a:avLst/>
          </a:prstGeom>
          <a:solidFill>
            <a:schemeClr val="dk1"/>
          </a:solidFill>
          <a:ln w="9525">
            <a:solidFill>
              <a:srgbClr val="1d36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61240" y="2264400"/>
            <a:ext cx="3369600" cy="54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585680" cy="3858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120;p19"/>
          <p:cNvSpPr/>
          <p:nvPr/>
        </p:nvSpPr>
        <p:spPr>
          <a:xfrm>
            <a:off x="713520" y="4030560"/>
            <a:ext cx="292896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CREDITS: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Syne"/>
                <a:ea typeface="Syne"/>
                <a:hlinkClick r:id="rId2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, including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Syne"/>
                <a:ea typeface="Syne"/>
                <a:hlinkClick r:id="rId3"/>
              </a:rPr>
              <a:t>Freepik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Syne"/>
                <a:ea typeface="Syne"/>
              </a:rPr>
              <a:t>.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body"/>
          </p:nvPr>
        </p:nvSpPr>
        <p:spPr>
          <a:xfrm>
            <a:off x="713160" y="1063800"/>
            <a:ext cx="7717320" cy="33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13520" y="535320"/>
            <a:ext cx="7717320" cy="5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" name="Google Shape;22;p4"/>
          <p:cNvCxnSpPr/>
          <p:nvPr/>
        </p:nvCxnSpPr>
        <p:spPr>
          <a:xfrm>
            <a:off x="817920" y="464400"/>
            <a:ext cx="816480" cy="360"/>
          </a:xfrm>
          <a:prstGeom prst="straightConnector1">
            <a:avLst/>
          </a:prstGeom>
          <a:ln w="19050">
            <a:solidFill>
              <a:srgbClr val="1d3675"/>
            </a:solidFill>
            <a:round/>
          </a:ln>
        </p:spPr>
      </p:cxn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38;p26" descr=""/>
          <p:cNvPicPr/>
          <p:nvPr/>
        </p:nvPicPr>
        <p:blipFill>
          <a:blip r:embed="rId1"/>
          <a:stretch/>
        </p:blipFill>
        <p:spPr>
          <a:xfrm>
            <a:off x="4552920" y="0"/>
            <a:ext cx="4590720" cy="3857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Google Shape;142;p26"/>
          <p:cNvCxnSpPr/>
          <p:nvPr/>
        </p:nvCxnSpPr>
        <p:spPr>
          <a:xfrm>
            <a:off x="880920" y="2768040"/>
            <a:ext cx="81612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grpSp>
        <p:nvGrpSpPr>
          <p:cNvPr id="17" name="Google Shape;143;p26"/>
          <p:cNvGrpSpPr/>
          <p:nvPr/>
        </p:nvGrpSpPr>
        <p:grpSpPr>
          <a:xfrm>
            <a:off x="8552160" y="4551840"/>
            <a:ext cx="385560" cy="385560"/>
            <a:chOff x="8552160" y="4551840"/>
            <a:chExt cx="385560" cy="385560"/>
          </a:xfrm>
        </p:grpSpPr>
        <p:sp>
          <p:nvSpPr>
            <p:cNvPr id="18" name="Google Shape;144;p26"/>
            <p:cNvSpPr/>
            <p:nvPr/>
          </p:nvSpPr>
          <p:spPr>
            <a:xfrm rot="16200000">
              <a:off x="8552160" y="4551840"/>
              <a:ext cx="385560" cy="385560"/>
            </a:xfrm>
            <a:prstGeom prst="rect">
              <a:avLst/>
            </a:prstGeom>
            <a:noFill/>
            <a:ln w="19050">
              <a:solidFill>
                <a:srgbClr val="f0762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9" name="Google Shape;145;p26"/>
            <p:cNvGrpSpPr/>
            <p:nvPr/>
          </p:nvGrpSpPr>
          <p:grpSpPr>
            <a:xfrm>
              <a:off x="8632440" y="4632120"/>
              <a:ext cx="224280" cy="224280"/>
              <a:chOff x="8632440" y="4632120"/>
              <a:chExt cx="224280" cy="224280"/>
            </a:xfrm>
          </p:grpSpPr>
          <p:sp>
            <p:nvSpPr>
              <p:cNvPr id="20" name="Google Shape;146;p26"/>
              <p:cNvSpPr/>
              <p:nvPr/>
            </p:nvSpPr>
            <p:spPr>
              <a:xfrm flipV="1">
                <a:off x="8632440" y="4631760"/>
                <a:ext cx="224280" cy="224280"/>
              </a:xfrm>
              <a:custGeom>
                <a:avLst/>
                <a:gdLst>
                  <a:gd name="textAreaLeft" fmla="*/ 0 w 224280"/>
                  <a:gd name="textAreaRight" fmla="*/ 224640 w 224280"/>
                  <a:gd name="textAreaTop" fmla="*/ -360 h 224280"/>
                  <a:gd name="textAreaBottom" fmla="*/ 224280 h 224280"/>
                </a:gdLst>
                <a:ahLst/>
                <a:cxnLst/>
                <a:rect l="textAreaLeft" t="textAreaTop" r="textAreaRight" b="textAreaBottom"/>
                <a:pathLst>
                  <a:path w="3513962" h="3513962">
                    <a:moveTo>
                      <a:pt x="3513963" y="0"/>
                    </a:moveTo>
                    <a:lnTo>
                      <a:pt x="3513963" y="3513963"/>
                    </a:lnTo>
                    <a:lnTo>
                      <a:pt x="0" y="3513963"/>
                    </a:lnTo>
                  </a:path>
                </a:pathLst>
              </a:custGeom>
              <a:noFill/>
              <a:ln w="19050">
                <a:solidFill>
                  <a:srgbClr val="f07621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" name="Google Shape;147;p26"/>
              <p:cNvSpPr/>
              <p:nvPr/>
            </p:nvSpPr>
            <p:spPr>
              <a:xfrm flipV="1">
                <a:off x="8632440" y="4631760"/>
                <a:ext cx="224280" cy="224280"/>
              </a:xfrm>
              <a:custGeom>
                <a:avLst/>
                <a:gdLst>
                  <a:gd name="textAreaLeft" fmla="*/ 0 w 224280"/>
                  <a:gd name="textAreaRight" fmla="*/ 224640 w 224280"/>
                  <a:gd name="textAreaTop" fmla="*/ -360 h 224280"/>
                  <a:gd name="textAreaBottom" fmla="*/ 224280 h 224280"/>
                </a:gdLst>
                <a:ahLst/>
                <a:cxnLst/>
                <a:rect l="textAreaLeft" t="textAreaTop" r="textAreaRight" b="textAreaBottom"/>
                <a:pathLst>
                  <a:path w="3513963" h="3513962">
                    <a:moveTo>
                      <a:pt x="0" y="0"/>
                    </a:moveTo>
                    <a:lnTo>
                      <a:pt x="3513963" y="3513963"/>
                    </a:lnTo>
                  </a:path>
                </a:pathLst>
              </a:custGeom>
              <a:noFill/>
              <a:ln w="19050">
                <a:solidFill>
                  <a:srgbClr val="f07621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2" name=""/>
          <p:cNvSpPr/>
          <p:nvPr/>
        </p:nvSpPr>
        <p:spPr>
          <a:xfrm>
            <a:off x="723960" y="2629080"/>
            <a:ext cx="36288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 fontScale="77500" lnSpcReduction="19999"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Funnel Display"/>
              </a:rPr>
              <a:t>HR Dashboard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"/>
          <p:cNvSpPr/>
          <p:nvPr/>
        </p:nvSpPr>
        <p:spPr>
          <a:xfrm>
            <a:off x="4857840" y="4295880"/>
            <a:ext cx="3285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How to read, interpret, and act on workforce analytics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714240" y="542880"/>
            <a:ext cx="7714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Workforce Health Snapshot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"/>
          <p:cNvSpPr/>
          <p:nvPr/>
        </p:nvSpPr>
        <p:spPr>
          <a:xfrm>
            <a:off x="2124000" y="1457280"/>
            <a:ext cx="630504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These five KPIs deliver a rapid health check. Total employees: 1,470 sets scale; active employees: 1,233 shows current workforce; attrition count: 237 and attrition rate: 16.12% reveal recent loss; average age: 37 indicates demographic central tendency. Together they signal scale, momentum, and structure of the workforce.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200016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-36720" bIns="-36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"/>
          <p:cNvSpPr/>
          <p:nvPr/>
        </p:nvSpPr>
        <p:spPr>
          <a:xfrm>
            <a:off x="363852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-36720" bIns="-36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"/>
          <p:cNvSpPr/>
          <p:nvPr/>
        </p:nvSpPr>
        <p:spPr>
          <a:xfrm>
            <a:off x="52768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-36720" bIns="-36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"/>
          <p:cNvSpPr/>
          <p:nvPr/>
        </p:nvSpPr>
        <p:spPr>
          <a:xfrm>
            <a:off x="691524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-36720" bIns="-36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0" name=""/>
          <p:cNvSpPr/>
          <p:nvPr/>
        </p:nvSpPr>
        <p:spPr>
          <a:xfrm>
            <a:off x="476280" y="200016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"/>
          <p:cNvSpPr/>
          <p:nvPr/>
        </p:nvSpPr>
        <p:spPr>
          <a:xfrm>
            <a:off x="12384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"/>
          <p:cNvSpPr/>
          <p:nvPr/>
        </p:nvSpPr>
        <p:spPr>
          <a:xfrm>
            <a:off x="2114640" y="200016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"/>
          <p:cNvSpPr/>
          <p:nvPr/>
        </p:nvSpPr>
        <p:spPr>
          <a:xfrm>
            <a:off x="28764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"/>
          <p:cNvSpPr/>
          <p:nvPr/>
        </p:nvSpPr>
        <p:spPr>
          <a:xfrm>
            <a:off x="3753000" y="200016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"/>
          <p:cNvSpPr/>
          <p:nvPr/>
        </p:nvSpPr>
        <p:spPr>
          <a:xfrm>
            <a:off x="451476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"/>
          <p:cNvSpPr/>
          <p:nvPr/>
        </p:nvSpPr>
        <p:spPr>
          <a:xfrm>
            <a:off x="5391000" y="200016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"/>
          <p:cNvSpPr/>
          <p:nvPr/>
        </p:nvSpPr>
        <p:spPr>
          <a:xfrm>
            <a:off x="615312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"/>
          <p:cNvSpPr/>
          <p:nvPr/>
        </p:nvSpPr>
        <p:spPr>
          <a:xfrm>
            <a:off x="7029360" y="2000160"/>
            <a:ext cx="1523520" cy="20916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"/>
          <p:cNvSpPr/>
          <p:nvPr/>
        </p:nvSpPr>
        <p:spPr>
          <a:xfrm>
            <a:off x="779148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Triage Steps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"/>
          <p:cNvSpPr/>
          <p:nvPr/>
        </p:nvSpPr>
        <p:spPr>
          <a:xfrm>
            <a:off x="476280" y="121932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6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Validate KPIs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"/>
          <p:cNvSpPr/>
          <p:nvPr/>
        </p:nvSpPr>
        <p:spPr>
          <a:xfrm>
            <a:off x="476280" y="2619360"/>
            <a:ext cx="15235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Confirm totals and calculations (e.g., attrition rate = 237 / 1470 = 16.12%).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"/>
          <p:cNvSpPr/>
          <p:nvPr/>
        </p:nvSpPr>
        <p:spPr>
          <a:xfrm>
            <a:off x="2114640" y="1219320"/>
            <a:ext cx="1523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High-share Segments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"/>
          <p:cNvSpPr/>
          <p:nvPr/>
        </p:nvSpPr>
        <p:spPr>
          <a:xfrm>
            <a:off x="2114640" y="2619360"/>
            <a:ext cx="1523520" cy="12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Scan department and education charts for the largest shares; for example, if R&amp;D accounts for 56.12% of attrition, place R&amp;D at the top of this step.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"/>
          <p:cNvSpPr/>
          <p:nvPr/>
        </p:nvSpPr>
        <p:spPr>
          <a:xfrm>
            <a:off x="3753000" y="1219320"/>
            <a:ext cx="1523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Cross-segment Check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"/>
          <p:cNvSpPr/>
          <p:nvPr/>
        </p:nvSpPr>
        <p:spPr>
          <a:xfrm>
            <a:off x="3753000" y="2619360"/>
            <a:ext cx="15235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Compare those segments against age and satisfaction visuals.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"/>
          <p:cNvSpPr/>
          <p:nvPr/>
        </p:nvSpPr>
        <p:spPr>
          <a:xfrm>
            <a:off x="5391000" y="121932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6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Form Hypotheses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"/>
          <p:cNvSpPr/>
          <p:nvPr/>
        </p:nvSpPr>
        <p:spPr>
          <a:xfrm>
            <a:off x="5391000" y="2619360"/>
            <a:ext cx="1523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Convert patterns into 2–3 testable causes (e.g., compensation, career path, workload).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"/>
          <p:cNvSpPr/>
          <p:nvPr/>
        </p:nvSpPr>
        <p:spPr>
          <a:xfrm>
            <a:off x="7029360" y="1219320"/>
            <a:ext cx="1523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6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Prioritize Actions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"/>
          <p:cNvSpPr/>
          <p:nvPr/>
        </p:nvSpPr>
        <p:spPr>
          <a:xfrm>
            <a:off x="7029360" y="2619360"/>
            <a:ext cx="15235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Rank by impact and effort, prioritizing quick wins first.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Concentrated Attrition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"/>
          <p:cNvSpPr/>
          <p:nvPr/>
        </p:nvSpPr>
        <p:spPr>
          <a:xfrm>
            <a:off x="476280" y="1905120"/>
            <a:ext cx="81910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When one department accounts for a large share of attrition, it signals a concentrated problem, not a random spike. In this example, R&amp;D shows 133 records, representing 56.12% of 237 total, while Sales has 92 (38.82%), and HR 12 (5.06%). Prioritize R&amp;D first and examine sub-teams, hire/exit timing, tenure distribution, and manager-level patterns rather than assuming a uniform spread.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Patterns Reveal Causes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"/>
          <p:cNvSpPr/>
          <p:nvPr/>
        </p:nvSpPr>
        <p:spPr>
          <a:xfrm>
            <a:off x="476280" y="1333440"/>
            <a:ext cx="39049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Compare the middle chart (male vs. female counts by age) with the job satisfaction table. If the 25–34 group is overrepresented in R&amp;D and shows low satisfaction (ratings clustered at 1–2), this strengthens a hypothesis that role-related dissatisfaction drives attrition in younger engineers.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"/>
          <p:cNvSpPr/>
          <p:nvPr/>
        </p:nvSpPr>
        <p:spPr>
          <a:xfrm>
            <a:off x="4762440" y="1333440"/>
            <a:ext cx="39049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If satisfaction is high yet attrition is high, investigate external factors (market demand, compensation). If low satisfaction aligns with high representation in a specific role, that suggests a root-cause signal worth targeting.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"/>
          <p:cNvSpPr/>
          <p:nvPr/>
        </p:nvSpPr>
        <p:spPr>
          <a:xfrm>
            <a:off x="476280" y="4381560"/>
            <a:ext cx="81910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5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Cross-segment comparisons separate correlated patterns from true root causes.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476280" y="1866960"/>
            <a:ext cx="2495160" cy="280008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"/>
          <p:cNvSpPr/>
          <p:nvPr/>
        </p:nvSpPr>
        <p:spPr>
          <a:xfrm>
            <a:off x="3200400" y="1866960"/>
            <a:ext cx="2495160" cy="280008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"/>
          <p:cNvSpPr/>
          <p:nvPr/>
        </p:nvSpPr>
        <p:spPr>
          <a:xfrm>
            <a:off x="5924520" y="1866960"/>
            <a:ext cx="2495160" cy="2800080"/>
          </a:xfrm>
          <a:prstGeom prst="roundRect">
            <a:avLst>
              <a:gd name="adj" fmla="val 16667"/>
            </a:avLst>
          </a:prstGeom>
          <a:solidFill>
            <a:srgbClr val="f07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3-Step Investigation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"/>
          <p:cNvSpPr/>
          <p:nvPr/>
        </p:nvSpPr>
        <p:spPr>
          <a:xfrm>
            <a:off x="476280" y="1238400"/>
            <a:ext cx="24951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01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"/>
          <p:cNvSpPr/>
          <p:nvPr/>
        </p:nvSpPr>
        <p:spPr>
          <a:xfrm>
            <a:off x="666720" y="2133720"/>
            <a:ext cx="21142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unnel Display"/>
              </a:rPr>
              <a:t>Data Validation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"/>
          <p:cNvSpPr/>
          <p:nvPr/>
        </p:nvSpPr>
        <p:spPr>
          <a:xfrm>
            <a:off x="666720" y="2666880"/>
            <a:ext cx="211428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Syne"/>
              </a:rPr>
              <a:t>Slice attrition by tenure, sub-department, manager, and exit reason; produce supporting tables and pulls.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"/>
          <p:cNvSpPr/>
          <p:nvPr/>
        </p:nvSpPr>
        <p:spPr>
          <a:xfrm>
            <a:off x="3200400" y="1238400"/>
            <a:ext cx="24951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02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"/>
          <p:cNvSpPr/>
          <p:nvPr/>
        </p:nvSpPr>
        <p:spPr>
          <a:xfrm>
            <a:off x="3390840" y="2133720"/>
            <a:ext cx="211428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unnel Display"/>
              </a:rPr>
              <a:t>Rapid Analyses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"/>
          <p:cNvSpPr/>
          <p:nvPr/>
        </p:nvSpPr>
        <p:spPr>
          <a:xfrm>
            <a:off x="3390840" y="2666880"/>
            <a:ext cx="21142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Syne"/>
              </a:rPr>
              <a:t>Run three focused analyses (tenure vs attrition, satisfaction vs attrition, compensation vs market) and conduct 1–2 stakeholder interviews for context.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"/>
          <p:cNvSpPr/>
          <p:nvPr/>
        </p:nvSpPr>
        <p:spPr>
          <a:xfrm>
            <a:off x="5924520" y="1238400"/>
            <a:ext cx="24951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03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"/>
          <p:cNvSpPr/>
          <p:nvPr/>
        </p:nvSpPr>
        <p:spPr>
          <a:xfrm>
            <a:off x="6114960" y="2133720"/>
            <a:ext cx="21142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unnel Display"/>
              </a:rPr>
              <a:t>Actions &amp; Owners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"/>
          <p:cNvSpPr/>
          <p:nvPr/>
        </p:nvSpPr>
        <p:spPr>
          <a:xfrm>
            <a:off x="6114960" y="2666880"/>
            <a:ext cx="21142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Syne"/>
              </a:rPr>
              <a:t>Define 3 interventions with owners, success metrics, and 60/90-day checkpoints (e.g., revised retention bonus, manager coaching, targeted engagement survey).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Metrics Snapshot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"/>
          <p:cNvSpPr/>
          <p:nvPr/>
        </p:nvSpPr>
        <p:spPr>
          <a:xfrm>
            <a:off x="476280" y="142884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1,470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"/>
          <p:cNvSpPr/>
          <p:nvPr/>
        </p:nvSpPr>
        <p:spPr>
          <a:xfrm>
            <a:off x="3809880" y="142884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Baseline headcount to monitor changes.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"/>
          <p:cNvSpPr/>
          <p:nvPr/>
        </p:nvSpPr>
        <p:spPr>
          <a:xfrm>
            <a:off x="476280" y="207648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1,233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"/>
          <p:cNvSpPr/>
          <p:nvPr/>
        </p:nvSpPr>
        <p:spPr>
          <a:xfrm>
            <a:off x="3809880" y="207648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Current active workforce size.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"/>
          <p:cNvSpPr/>
          <p:nvPr/>
        </p:nvSpPr>
        <p:spPr>
          <a:xfrm>
            <a:off x="476280" y="272412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237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"/>
          <p:cNvSpPr/>
          <p:nvPr/>
        </p:nvSpPr>
        <p:spPr>
          <a:xfrm>
            <a:off x="3809880" y="272412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Baseline attrition count; monthly movement to monitor.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"/>
          <p:cNvSpPr/>
          <p:nvPr/>
        </p:nvSpPr>
        <p:spPr>
          <a:xfrm>
            <a:off x="476280" y="337176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16.12%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"/>
          <p:cNvSpPr/>
          <p:nvPr/>
        </p:nvSpPr>
        <p:spPr>
          <a:xfrm>
            <a:off x="3809880" y="337176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Attrition rate at cadence; track trend.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"/>
          <p:cNvSpPr/>
          <p:nvPr/>
        </p:nvSpPr>
        <p:spPr>
          <a:xfrm>
            <a:off x="476280" y="401940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1d3675"/>
                </a:solidFill>
                <a:effectLst/>
                <a:uFillTx/>
                <a:latin typeface="Funnel Display"/>
              </a:rPr>
              <a:t>37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"/>
          <p:cNvSpPr/>
          <p:nvPr/>
        </p:nvSpPr>
        <p:spPr>
          <a:xfrm>
            <a:off x="3809880" y="401940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d3675"/>
                </a:solidFill>
                <a:effectLst/>
                <a:uFillTx/>
                <a:latin typeface="Syne"/>
              </a:rPr>
              <a:t>Average employee age; watch demographic shifts.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57640" y="1867320"/>
            <a:ext cx="3371400" cy="134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800" strike="noStrike" u="none">
                <a:solidFill>
                  <a:schemeClr val="lt1"/>
                </a:solidFill>
                <a:effectLst/>
                <a:uFillTx/>
                <a:latin typeface="Funnel Display"/>
                <a:ea typeface="Funnel Display"/>
              </a:rPr>
              <a:t>Thanks!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5057640" y="3028680"/>
            <a:ext cx="3371400" cy="10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lt1"/>
                </a:solidFill>
                <a:effectLst/>
                <a:uFillTx/>
                <a:latin typeface="Syne"/>
                <a:ea typeface="Syne"/>
              </a:rPr>
              <a:t>Do you have any questions?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lt1"/>
                </a:solidFill>
                <a:effectLst/>
                <a:uFillTx/>
                <a:latin typeface="Syne"/>
                <a:ea typeface="Syne"/>
              </a:rPr>
              <a:t>youremail@freepik.com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lt1"/>
                </a:solidFill>
                <a:effectLst/>
                <a:uFillTx/>
                <a:latin typeface="Syne"/>
                <a:ea typeface="Syne"/>
              </a:rPr>
              <a:t>+91 620 421 838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lt1"/>
                </a:solidFill>
                <a:effectLst/>
                <a:uFillTx/>
                <a:latin typeface="Syne"/>
                <a:ea typeface="Syne"/>
              </a:rPr>
              <a:t>yourcompany.com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Google Shape;393;p41"/>
          <p:cNvSpPr/>
          <p:nvPr/>
        </p:nvSpPr>
        <p:spPr>
          <a:xfrm>
            <a:off x="5057640" y="4295880"/>
            <a:ext cx="33145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957400" bIns="-2957400" anchor="b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Please keep this slide for attribution.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4" name="Google Shape;394;p41" descr=""/>
          <p:cNvPicPr/>
          <p:nvPr/>
        </p:nvPicPr>
        <p:blipFill>
          <a:blip r:embed="rId1"/>
          <a:srcRect l="0" t="12322" r="0" b="30123"/>
          <a:stretch/>
        </p:blipFill>
        <p:spPr>
          <a:xfrm>
            <a:off x="0" y="0"/>
            <a:ext cx="4585680" cy="385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Google Shape;395;p41"/>
          <p:cNvSpPr/>
          <p:nvPr/>
        </p:nvSpPr>
        <p:spPr>
          <a:xfrm>
            <a:off x="4724280" y="85680"/>
            <a:ext cx="42192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1423440" bIns="-142344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Name of the company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86" name="Google Shape;396;p41"/>
          <p:cNvCxnSpPr/>
          <p:nvPr/>
        </p:nvCxnSpPr>
        <p:spPr>
          <a:xfrm>
            <a:off x="5165640" y="2107440"/>
            <a:ext cx="81648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grpSp>
        <p:nvGrpSpPr>
          <p:cNvPr id="87" name="Google Shape;397;p41"/>
          <p:cNvGrpSpPr/>
          <p:nvPr/>
        </p:nvGrpSpPr>
        <p:grpSpPr>
          <a:xfrm>
            <a:off x="4032720" y="4551840"/>
            <a:ext cx="385560" cy="385560"/>
            <a:chOff x="4032720" y="4551840"/>
            <a:chExt cx="385560" cy="385560"/>
          </a:xfrm>
        </p:grpSpPr>
        <p:sp>
          <p:nvSpPr>
            <p:cNvPr id="88" name="Google Shape;398;p41"/>
            <p:cNvSpPr/>
            <p:nvPr/>
          </p:nvSpPr>
          <p:spPr>
            <a:xfrm rot="16200000">
              <a:off x="4032720" y="4551840"/>
              <a:ext cx="385560" cy="385560"/>
            </a:xfrm>
            <a:prstGeom prst="rect">
              <a:avLst/>
            </a:prstGeom>
            <a:noFill/>
            <a:ln w="19050">
              <a:solidFill>
                <a:srgbClr val="f0762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9" name="Google Shape;399;p41"/>
            <p:cNvGrpSpPr/>
            <p:nvPr/>
          </p:nvGrpSpPr>
          <p:grpSpPr>
            <a:xfrm>
              <a:off x="4113000" y="4632120"/>
              <a:ext cx="224280" cy="224280"/>
              <a:chOff x="4113000" y="4632120"/>
              <a:chExt cx="224280" cy="224280"/>
            </a:xfrm>
          </p:grpSpPr>
          <p:sp>
            <p:nvSpPr>
              <p:cNvPr id="90" name="Google Shape;400;p41"/>
              <p:cNvSpPr/>
              <p:nvPr/>
            </p:nvSpPr>
            <p:spPr>
              <a:xfrm flipV="1">
                <a:off x="4113000" y="4631760"/>
                <a:ext cx="224280" cy="224280"/>
              </a:xfrm>
              <a:custGeom>
                <a:avLst/>
                <a:gdLst>
                  <a:gd name="textAreaLeft" fmla="*/ 0 w 224280"/>
                  <a:gd name="textAreaRight" fmla="*/ 224640 w 224280"/>
                  <a:gd name="textAreaTop" fmla="*/ -360 h 224280"/>
                  <a:gd name="textAreaBottom" fmla="*/ 224280 h 224280"/>
                </a:gdLst>
                <a:ahLst/>
                <a:cxnLst/>
                <a:rect l="textAreaLeft" t="textAreaTop" r="textAreaRight" b="textAreaBottom"/>
                <a:pathLst>
                  <a:path w="3513962" h="3513962">
                    <a:moveTo>
                      <a:pt x="3513963" y="0"/>
                    </a:moveTo>
                    <a:lnTo>
                      <a:pt x="3513963" y="3513963"/>
                    </a:lnTo>
                    <a:lnTo>
                      <a:pt x="0" y="3513963"/>
                    </a:lnTo>
                  </a:path>
                </a:pathLst>
              </a:custGeom>
              <a:noFill/>
              <a:ln w="19050">
                <a:solidFill>
                  <a:srgbClr val="f07621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401;p41"/>
              <p:cNvSpPr/>
              <p:nvPr/>
            </p:nvSpPr>
            <p:spPr>
              <a:xfrm flipV="1">
                <a:off x="4113000" y="4631760"/>
                <a:ext cx="224280" cy="224280"/>
              </a:xfrm>
              <a:custGeom>
                <a:avLst/>
                <a:gdLst>
                  <a:gd name="textAreaLeft" fmla="*/ 0 w 224280"/>
                  <a:gd name="textAreaRight" fmla="*/ 224640 w 224280"/>
                  <a:gd name="textAreaTop" fmla="*/ -360 h 224280"/>
                  <a:gd name="textAreaBottom" fmla="*/ 224280 h 224280"/>
                </a:gdLst>
                <a:ahLst/>
                <a:cxnLst/>
                <a:rect l="textAreaLeft" t="textAreaTop" r="textAreaRight" b="textAreaBottom"/>
                <a:pathLst>
                  <a:path w="3513963" h="3513962">
                    <a:moveTo>
                      <a:pt x="0" y="0"/>
                    </a:moveTo>
                    <a:lnTo>
                      <a:pt x="3513963" y="3513963"/>
                    </a:lnTo>
                  </a:path>
                </a:pathLst>
              </a:custGeom>
              <a:noFill/>
              <a:ln w="19050">
                <a:solidFill>
                  <a:srgbClr val="f07621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92" name="Google Shape;402;p41"/>
          <p:cNvSpPr/>
          <p:nvPr/>
        </p:nvSpPr>
        <p:spPr>
          <a:xfrm>
            <a:off x="4029120" y="4552920"/>
            <a:ext cx="3902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95120" bIns="19512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trategic Business Management by Slidesgo">
  <a:themeElements>
    <a:clrScheme name="Simple Light">
      <a:dk1>
        <a:srgbClr val="1d3675"/>
      </a:dk1>
      <a:lt1>
        <a:srgbClr val="ffffff"/>
      </a:lt1>
      <a:dk2>
        <a:srgbClr val="f07621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3675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2026-10-28T08:58:34Z</dcterms:created>
  <dc:creator>Slidesgo AI</dc:creator>
  <dc:description/>
  <dc:language>en-US</dc:language>
  <cp:lastModifiedBy>Unknown Creator</cp:lastModifiedBy>
  <dcterms:modified xsi:type="dcterms:W3CDTF">2026-10-28T08:58:34Z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8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a316abf5-ab55-4b09-8b89-416558ace46c</vt:lpwstr>
  </property>
</Properties>
</file>